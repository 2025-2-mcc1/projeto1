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607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jWiAF7pS+Lm9NxDgMGOVy9zYAi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128" y="-3660"/>
      </p:cViewPr>
      <p:guideLst>
        <p:guide orient="horz" pos="13607"/>
        <p:guide pos="90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latin typeface="Calibri"/>
                <a:ea typeface="Calibri"/>
                <a:cs typeface="Calibri"/>
                <a:sym typeface="Calibri"/>
              </a:rPr>
              <a:t>1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None/>
              <a:defRPr/>
            </a:lvl1pPr>
            <a:lvl2pPr lvl="1" algn="ctr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None/>
              <a:defRPr/>
            </a:lvl2pPr>
            <a:lvl3pPr lvl="2" algn="ctr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None/>
              <a:defRPr/>
            </a:lvl3pPr>
            <a:lvl4pPr lvl="3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4pPr>
            <a:lvl5pPr lvl="4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5pPr>
            <a:lvl6pPr lvl="5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6pPr>
            <a:lvl7pPr lvl="6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7pPr>
            <a:lvl8pPr lvl="7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8pPr>
            <a:lvl9pPr lvl="8" algn="ctr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333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b" anchorCtr="0">
            <a:noAutofit/>
          </a:bodyPr>
          <a:lstStyle>
            <a:lvl1pPr marL="457200" lvl="0" indent="-228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/>
            </a:lvl3pPr>
            <a:lvl4pPr marL="1828800" lvl="3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4pPr>
            <a:lvl5pPr marL="2286000" lvl="4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5pPr>
            <a:lvl6pPr marL="2743200" lvl="5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6pPr>
            <a:lvl7pPr marL="3200400" lvl="6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7pPr>
            <a:lvl8pPr marL="3657600" lvl="7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8pPr>
            <a:lvl9pPr marL="4114800" lvl="8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439175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465645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marL="914400" lvl="1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marL="1371600" lvl="2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marL="1828800" lvl="3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4501801" y="10080573"/>
            <a:ext cx="12859449" cy="2851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465645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/>
            </a:lvl1pPr>
            <a:lvl2pPr marL="914400" lvl="1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–"/>
              <a:defRPr sz="3200"/>
            </a:lvl2pPr>
            <a:lvl3pPr marL="1371600" lvl="2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•"/>
              <a:defRPr sz="2666"/>
            </a:lvl3pPr>
            <a:lvl4pPr marL="1828800" lvl="3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5pPr>
            <a:lvl6pPr marL="2743200" lvl="5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6pPr>
            <a:lvl7pPr marL="3200400" lvl="6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7pPr>
            <a:lvl8pPr marL="3657600" lvl="7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8pPr>
            <a:lvl9pPr marL="4114800" lvl="8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b" anchorCtr="0">
            <a:no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/>
            </a:lvl1pPr>
            <a:lvl2pPr marL="914400" lvl="1" indent="-228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4pPr>
            <a:lvl5pPr marL="2286000" lvl="4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5pPr>
            <a:lvl6pPr marL="2743200" lvl="5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6pPr>
            <a:lvl7pPr marL="3200400" lvl="6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7pPr>
            <a:lvl8pPr marL="3657600" lvl="7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8pPr>
            <a:lvl9pPr marL="4114800" lvl="8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439175" y="13699675"/>
            <a:ext cx="12726114" cy="2489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marL="2286000" lvl="4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marL="2743200" lvl="5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marL="3200400" lvl="6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marL="3657600" lvl="7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marL="4114800" lvl="8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4630904" y="9669985"/>
            <a:ext cx="12730346" cy="4029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b" anchorCtr="0">
            <a:no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/>
            </a:lvl1pPr>
            <a:lvl2pPr marL="914400" lvl="1" indent="-228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None/>
              <a:defRPr sz="2666" b="1"/>
            </a:lvl2pPr>
            <a:lvl3pPr marL="1371600" lvl="2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4pPr>
            <a:lvl5pPr marL="2286000" lvl="4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5pPr>
            <a:lvl6pPr marL="2743200" lvl="5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6pPr>
            <a:lvl7pPr marL="3200400" lvl="6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7pPr>
            <a:lvl8pPr marL="3657600" lvl="7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8pPr>
            <a:lvl9pPr marL="4114800" lvl="8" indent="-228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4630904" y="13699675"/>
            <a:ext cx="12730346" cy="2489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–"/>
              <a:defRPr sz="2133"/>
            </a:lvl4pPr>
            <a:lvl5pPr marL="2286000" lvl="4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5pPr>
            <a:lvl6pPr marL="2743200" lvl="5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6pPr>
            <a:lvl7pPr marL="3200400" lvl="6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7pPr>
            <a:lvl8pPr marL="3657600" lvl="7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8pPr>
            <a:lvl9pPr marL="4114800" lvl="8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»"/>
              <a:defRPr sz="2133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66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1259425" y="1720662"/>
            <a:ext cx="16101825" cy="3687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499491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6"/>
              <a:buFont typeface="Arial"/>
              <a:buChar char="•"/>
              <a:defRPr sz="4266"/>
            </a:lvl1pPr>
            <a:lvl2pPr marL="914400" lvl="1" indent="-465645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sz="3733"/>
            </a:lvl2pPr>
            <a:lvl3pPr marL="1371600" lvl="2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3pPr>
            <a:lvl4pPr marL="1828800" lvl="3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–"/>
              <a:defRPr sz="2666"/>
            </a:lvl4pPr>
            <a:lvl5pPr marL="2286000" lvl="4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5pPr>
            <a:lvl6pPr marL="2743200" lvl="5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6pPr>
            <a:lvl7pPr marL="3200400" lvl="6" indent="-397891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7pPr>
            <a:lvl8pPr marL="3657600" lvl="7" indent="-39789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8pPr>
            <a:lvl9pPr marL="4114800" lvl="8" indent="-39789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6"/>
              <a:buFont typeface="Arial"/>
              <a:buChar char="»"/>
              <a:defRPr sz="2666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439175" y="9039287"/>
            <a:ext cx="9475273" cy="29551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66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5644529" y="3860375"/>
            <a:ext cx="17280678" cy="2591996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5644529" y="33810024"/>
            <a:ext cx="17280678" cy="5070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2286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6"/>
              <a:buFont typeface="Arial"/>
              <a:buNone/>
              <a:defRPr sz="1866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marL="1371600" lvl="2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144977" y="11374771"/>
            <a:ext cx="28510473" cy="2592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5690032" y="16919828"/>
            <a:ext cx="36861919" cy="648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7372595" y="10540898"/>
            <a:ext cx="36861919" cy="19238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439175" y="1729128"/>
            <a:ext cx="25922076" cy="720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865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439175" y="10080573"/>
            <a:ext cx="25922076" cy="2851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457200" marR="0" lvl="0" indent="-1142936" algn="l" rtl="0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399"/>
              <a:buFont typeface="Arial"/>
              <a:buChar char="•"/>
              <a:defRPr sz="1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1032827" algn="l" rtl="0">
              <a:spcBef>
                <a:spcPts val="2533"/>
              </a:spcBef>
              <a:spcAft>
                <a:spcPts val="0"/>
              </a:spcAft>
              <a:buClr>
                <a:schemeClr val="dk1"/>
              </a:buClr>
              <a:buSzPts val="12665"/>
              <a:buFont typeface="Arial"/>
              <a:buChar char="–"/>
              <a:defRPr sz="1266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914336" algn="l" rtl="0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799"/>
              <a:buFont typeface="Arial"/>
              <a:buChar char="•"/>
              <a:defRPr sz="10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–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804291" algn="l" rtl="0">
              <a:spcBef>
                <a:spcPts val="1813"/>
              </a:spcBef>
              <a:spcAft>
                <a:spcPts val="0"/>
              </a:spcAft>
              <a:buClr>
                <a:schemeClr val="dk1"/>
              </a:buClr>
              <a:buSzPts val="9066"/>
              <a:buFont typeface="Arial"/>
              <a:buChar char="»"/>
              <a:defRPr sz="9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439175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9839300" y="39340264"/>
            <a:ext cx="9121828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3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0639458" y="39340264"/>
            <a:ext cx="6721792" cy="3001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62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65" y="82386"/>
            <a:ext cx="28774945" cy="4317934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690522" y="4992304"/>
            <a:ext cx="13284900" cy="3067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a equipe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r>
              <a:rPr lang="pt-BR" sz="3000" dirty="0">
                <a:solidFill>
                  <a:schemeClr val="dk1"/>
                </a:solidFill>
              </a:rPr>
              <a:t>Nosso grupo foi formado por quatro integrantes que trabalharam de forma colaborativa para a produção do Projeto Interdisciplinar (PI), que tem como foco testar  nosso conhecimento adquirido no semestre.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dk1"/>
                </a:solidFill>
              </a:rPr>
              <a:t>	Ao longo do processo tivemos reuniões para alinhar o Designer, Programação e Áudio, garantindo assim um projeto funcional.</a:t>
            </a:r>
            <a:endParaRPr sz="3000" dirty="0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99"/>
              <a:buFont typeface="Arial"/>
              <a:buNone/>
            </a:pPr>
            <a:endParaRPr sz="809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438075" y="1355148"/>
            <a:ext cx="27924300" cy="16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8600" tIns="154300" rIns="308600" bIns="1543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6" b="1"/>
              <a:t>TRASH COLLECTOR</a:t>
            </a:r>
            <a:endParaRPr sz="5866" b="1"/>
          </a:p>
        </p:txBody>
      </p:sp>
      <p:sp>
        <p:nvSpPr>
          <p:cNvPr id="93" name="Google Shape;93;p1"/>
          <p:cNvSpPr/>
          <p:nvPr/>
        </p:nvSpPr>
        <p:spPr>
          <a:xfrm>
            <a:off x="1740308" y="141550"/>
            <a:ext cx="25809900" cy="16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425" tIns="205700" rIns="411425" bIns="20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999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de Tecnologia FECAP 2025</a:t>
            </a:r>
            <a:endParaRPr dirty="0"/>
          </a:p>
        </p:txBody>
      </p:sp>
      <p:sp>
        <p:nvSpPr>
          <p:cNvPr id="94" name="Google Shape;94;p1"/>
          <p:cNvSpPr txBox="1"/>
          <p:nvPr/>
        </p:nvSpPr>
        <p:spPr>
          <a:xfrm>
            <a:off x="14732716" y="5121055"/>
            <a:ext cx="13284900" cy="352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Problema a ser tratado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 dirty="0">
                <a:solidFill>
                  <a:schemeClr val="dk1"/>
                </a:solidFill>
              </a:rPr>
              <a:t>	</a:t>
            </a:r>
            <a:r>
              <a:rPr lang="pt-BR" sz="3000" dirty="0">
                <a:solidFill>
                  <a:schemeClr val="dk1"/>
                </a:solidFill>
              </a:rPr>
              <a:t>O jogo “Trash Collector” aborda o tema de conscientização do Meio-Ambiente, trazendo a preocupação de falta de cuidado com a natureza.</a:t>
            </a:r>
            <a:endParaRPr sz="3000" dirty="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dk1"/>
                </a:solidFill>
              </a:rPr>
              <a:t>	É perceptivel que a natureza vem sendo destruida pelo homem, e essa taxa vem subindo cada vez mais, trazendo diversos  casos de desastres naturais. Cuidar da natureza é algo de extrema importância, pois alguns danos podem ser irreversíveis.</a:t>
            </a:r>
            <a:endParaRPr sz="3000" dirty="0">
              <a:solidFill>
                <a:schemeClr val="dk1"/>
              </a:solidFill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56622" y="33543418"/>
            <a:ext cx="1331880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proposta</a:t>
            </a:r>
            <a:endParaRPr sz="3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dirty="0">
                <a:solidFill>
                  <a:schemeClr val="dk1"/>
                </a:solidFill>
              </a:rPr>
              <a:t>	</a:t>
            </a:r>
            <a:endParaRPr sz="3000" b="1" dirty="0">
              <a:solidFill>
                <a:schemeClr val="dk1"/>
              </a:solidFill>
            </a:endParaRPr>
          </a:p>
          <a:p>
            <a:pPr marL="0" marR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dk1"/>
                </a:solidFill>
              </a:rPr>
              <a:t>O jogo apresenta um escoteiro que percorre a floresta coletando resíduos descartados irregularmente. A solução proposta é sensibilizar o jogador sobre a importância da preservação ambiental, mostrando, de forma interativa, como pequenas ações individuais podem ajudar a manter o meio ambiente limpo. </a:t>
            </a:r>
          </a:p>
          <a:p>
            <a:pPr marL="0" marR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recolher o li</a:t>
            </a:r>
            <a:r>
              <a:rPr lang="pt-BR" sz="3000" dirty="0">
                <a:solidFill>
                  <a:schemeClr val="dk1"/>
                </a:solidFill>
              </a:rPr>
              <a:t>xo e aprender a descarta-lo corretamente, o jogador desenvolve Consciência Ecológica, reforçando seus valores como responsabilidade, cuidado com a natureza e sustentabilidade.</a:t>
            </a:r>
            <a:endParaRPr sz="3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4646784" y="33543418"/>
            <a:ext cx="13318800" cy="2144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Futuro do projeto</a:t>
            </a:r>
            <a:endParaRPr dirty="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pt-BR" sz="3000" dirty="0">
                <a:solidFill>
                  <a:schemeClr val="dk1"/>
                </a:solidFill>
              </a:rPr>
              <a:t>	Futuramente pretendemos expandir com novas fases, desafios,  conteúdos educativos para ampliar a conscientização, mecânicas, para proporcionar o pensamento critico de resolução de problemas.</a:t>
            </a:r>
            <a:endParaRPr sz="3000" b="1" dirty="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66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e ferramentas do Projeto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pic>
        <p:nvPicPr>
          <p:cNvPr id="98" name="Google Shape;98;p1" descr="Uma imagem contendo óculos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752" y="40356014"/>
            <a:ext cx="3095947" cy="3115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 descr="Uma imagem contendo óculos, caneca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01752" y="40382747"/>
            <a:ext cx="3095945" cy="310559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2933400" y="2681450"/>
            <a:ext cx="234237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dk1"/>
                </a:solidFill>
              </a:rPr>
              <a:t>Ana Julia dos Santos Silva, Fabrizzio de Sousa Puttini, Julia Valério da Silva, Luiz Roberto Silvestre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438000" y="3581450"/>
            <a:ext cx="2834331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chemeClr val="dk1"/>
                </a:solidFill>
              </a:rPr>
              <a:t>Professores: Victor Bruno Rosetti, Joyce Daniele Tavares, Luis Fernando dos Santos, Renata Muniz,  Adriano Felix Valente</a:t>
            </a:r>
            <a:endParaRPr sz="4000" dirty="0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4583075" y="12870950"/>
            <a:ext cx="3603000" cy="31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399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9231275" y="12604250"/>
            <a:ext cx="4495800" cy="3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399">
              <a:solidFill>
                <a:schemeClr val="dk1"/>
              </a:solidFill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629075" y="13528175"/>
            <a:ext cx="3603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399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971975" y="21786350"/>
            <a:ext cx="6324600" cy="6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399">
              <a:solidFill>
                <a:schemeClr val="dk1"/>
              </a:solidFill>
            </a:endParaRPr>
          </a:p>
        </p:txBody>
      </p:sp>
      <p:pic>
        <p:nvPicPr>
          <p:cNvPr id="3" name="Picture 2" descr="A purple hexagon with a white letter c and a hashtag&#10;&#10;AI-generated content may be incorrect.">
            <a:extLst>
              <a:ext uri="{FF2B5EF4-FFF2-40B4-BE49-F238E27FC236}">
                <a16:creationId xmlns:a16="http://schemas.microsoft.com/office/drawing/2014/main" id="{2E337D10-D5F5-277E-3E36-E28A5603D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8351" y="15818942"/>
            <a:ext cx="7934368" cy="7934368"/>
          </a:xfrm>
          <a:prstGeom prst="rect">
            <a:avLst/>
          </a:prstGeom>
        </p:spPr>
      </p:pic>
      <p:pic>
        <p:nvPicPr>
          <p:cNvPr id="7" name="Picture 6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8D681A6C-12D1-4936-BE44-C204507FD8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88661" y="14942912"/>
            <a:ext cx="9709036" cy="9709036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93DC396-48F4-D942-37EA-769B1098F6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68216" y="24456378"/>
            <a:ext cx="12075936" cy="2726520"/>
          </a:xfrm>
          <a:prstGeom prst="rect">
            <a:avLst/>
          </a:prstGeom>
        </p:spPr>
      </p:pic>
      <p:pic>
        <p:nvPicPr>
          <p:cNvPr id="11" name="Picture 10" descr="A video game screen with trees and a coin&#10;&#10;AI-generated content may be incorrect.">
            <a:extLst>
              <a:ext uri="{FF2B5EF4-FFF2-40B4-BE49-F238E27FC236}">
                <a16:creationId xmlns:a16="http://schemas.microsoft.com/office/drawing/2014/main" id="{DAC27E35-7494-D70A-2914-CBD0031F1E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896" y="13048292"/>
            <a:ext cx="13248408" cy="7464390"/>
          </a:xfrm>
          <a:prstGeom prst="rect">
            <a:avLst/>
          </a:prstGeom>
        </p:spPr>
      </p:pic>
      <p:pic>
        <p:nvPicPr>
          <p:cNvPr id="13" name="Picture 1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55A72F3-0DF3-51B7-1D08-A300E0C5F5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896" y="22687957"/>
            <a:ext cx="13190618" cy="74643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303</Words>
  <Application>Microsoft Office PowerPoint</Application>
  <PresentationFormat>Personalizar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Design padrão</vt:lpstr>
      <vt:lpstr>TRASH COLLECTOR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TRASH COLLECTOR</dc:title>
  <dc:creator>Jr</dc:creator>
  <cp:lastModifiedBy>Julia Valério</cp:lastModifiedBy>
  <cp:revision>5</cp:revision>
  <dcterms:created xsi:type="dcterms:W3CDTF">2006-11-04T15:46:42Z</dcterms:created>
  <dcterms:modified xsi:type="dcterms:W3CDTF">2025-11-10T21:14:51Z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